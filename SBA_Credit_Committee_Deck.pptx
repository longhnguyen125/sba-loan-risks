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5D75D9-CC19-427B-A357-7D0211FB77AA}">
  <a:tblStyle styleId="{4C5D75D9-CC19-427B-A357-7D0211FB77A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Purpose: show where SBA 7(a) risk sits before we commit to 40% growth, and what guidelines to put in place.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recommendations; each is backed by a number on the following slides.</a:t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B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our SBA 7(a) risk really sits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Findings and recommendations for the growth plan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Blue Ridge Community Bank  |  Credit Committee  |  Prepared by Long Nguyen for Dana Whitfield, SVP Small Business Lending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We can grow, but not evenly: the risk is concentrated and mostly predictable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What we found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48640" y="192024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About 9 in 100 finished SBA loans defaulted (8.7%).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Risk peaks in $150K-$350K loans to businesses under 5 years old.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Express doesn't default more, but small Express loans cost the bank far more per dollar.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Our region runs above average, driven by out-of-state lenders. Local lenders do much better.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Bad loans surface in years 3-7 and lose about 81% of the balance.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309360" y="1463040"/>
            <a:ext cx="5349240" cy="3931920"/>
          </a:xfrm>
          <a:prstGeom prst="rect">
            <a:avLst/>
          </a:prstGeom>
          <a:solidFill>
            <a:srgbClr val="F3F2EF"/>
          </a:solidFill>
          <a:ln cap="flat" cmpd="sng" w="12700">
            <a:solidFill>
              <a:srgbClr val="F3F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2410C"/>
                </a:solidFill>
                <a:latin typeface="Cambria"/>
                <a:ea typeface="Cambria"/>
                <a:cs typeface="Cambria"/>
                <a:sym typeface="Cambria"/>
              </a:rPr>
              <a:t>What we recommend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6583680" y="210312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Use the risk tier table in approval guidelines: extra review for the 16 High-risk segments.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Keep Express, but add checks or pricing for Express loans under $150K.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Give loans sized exactly at a program limit a second look.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Grow at home first by winning borrowers from out-of-state lenders; Pennsylvania is the natural next state.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Watch every loan most closely in years 2-7.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We looked at every SBA 7(a) loan approved nationwide in 2015-2019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Public SBA loan data, status as of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548640" y="201168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301,889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548640" y="272491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SBA 7(a) loans approved, FY2015-2019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206240" y="201168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224,444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4206240" y="272491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loans with a final outcome (paid off or charged off)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863840" y="201168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C2410C"/>
                </a:solidFill>
                <a:latin typeface="Cambria"/>
                <a:ea typeface="Cambria"/>
                <a:cs typeface="Cambria"/>
                <a:sym typeface="Cambria"/>
              </a:rPr>
              <a:t>8.7%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7863840" y="2724912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national default rate: our baseline for every comparison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548640" y="4023360"/>
            <a:ext cx="110642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Default rate = charged-off loans divided by loans that have finished. Cancelled and still-active loans are left out.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Bank loss = amount written off minus the SBA's share. Express has a 50% guarantee; other programs 75-85%.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About 14% of loans are still active, and SBA hides their status. Treat the results as a risk ranking, not a forecast.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Mid-size loans to young businesses default most; restaurants are only slightly above average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Question 1: Who defaults?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645920"/>
            <a:ext cx="58521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48640" y="60350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Default rate by industry (orange = above the 8.7% average)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6675120" y="173736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C2410C"/>
                </a:solidFill>
                <a:latin typeface="Cambria"/>
                <a:ea typeface="Cambria"/>
                <a:cs typeface="Cambria"/>
                <a:sym typeface="Cambria"/>
              </a:rPr>
              <a:t>11.1% vs 4.0%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6675120" y="2450592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$150K-$350K loans vs $1M+ loans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6675120" y="310896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6.7% vs 10.3%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6675120" y="3822192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businesses 5+ years old vs startups. Under 2 years (9.0%) and 2-5 years (9.7%) are nearly as risky as startups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6675120" y="475488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The real line is 5 years in business, not 'startup'.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Restaurants &amp; hotels: 9.3%, but our biggest borrower group ($23.6B lent).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Sectors with 300+ finished loans. Source: SBA 7(a) FOIA data, FY2015-2019.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Express doesn't default more, but under $150K it costs the bank more per dollar than PLP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Question 2: Is speed costing us?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645920"/>
            <a:ext cx="694944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7680960" y="173736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8.1% vs 9.2%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7680960" y="2450592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default rate: Express vs PLP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7680960" y="301752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C2410C"/>
                </a:solidFill>
                <a:latin typeface="Cambria"/>
                <a:ea typeface="Cambria"/>
                <a:cs typeface="Cambria"/>
                <a:sym typeface="Cambria"/>
              </a:rPr>
              <a:t>$2.58 vs $0.76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7680960" y="3730752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bank loss per $100 lent: Express vs PLP (the SBA covers only 50% of an Express loss)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7680960" y="4663440"/>
            <a:ext cx="4023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From $150K to $350K, Express cost the bank less than PLP.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PLP loans of exactly $150,000 defaulted at 27.9%, vs about 7-10% just either side.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Loans with a final outcome. Express was capped at $350K in this period (now $500K), so there is no evidence for $350K-$500K Express loans.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Our region defaults above average for reasons other than loan type; Pennsylvania and Ohio look safer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Question 4: Where should we grow?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645920"/>
            <a:ext cx="585216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 txBox="1"/>
          <p:nvPr/>
        </p:nvSpPr>
        <p:spPr>
          <a:xfrm>
            <a:off x="6675120" y="173736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C2410C"/>
                </a:solidFill>
                <a:latin typeface="Cambria"/>
                <a:ea typeface="Cambria"/>
                <a:cs typeface="Cambria"/>
                <a:sym typeface="Cambria"/>
              </a:rPr>
              <a:t>10.7% vs 8.7%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6675120" y="2450592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VA/DC/MD vs the national default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6675120" y="301752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24% worse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6675120" y="3730752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than the loan mix in VA/DC/MD predicts (same industries, sizes and programs elsewhere)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6675120" y="457200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Pennsylvania (7.5%, ~1,700 loans a year) and Ohio (6.7%, ~2,900 a year) perform better than their loan mix predicts.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New York, New Jersey and South Carolina are riskier than home.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Default rate among finished loans, by state where the loan is used. DC has only 372 finished loans.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Lenders who know the local market see far fewer defaults, and that is our edge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Question 5: How do we compare with competitors?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548640" y="173736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2A78D6"/>
                </a:solidFill>
                <a:latin typeface="Cambria"/>
                <a:ea typeface="Cambria"/>
                <a:cs typeface="Cambria"/>
                <a:sym typeface="Cambria"/>
              </a:rPr>
              <a:t>3.8%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548640" y="245059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default rate on VA/DC/MD loans made by in-state lenders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3840480" y="173736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C2410C"/>
                </a:solidFill>
                <a:latin typeface="Cambria"/>
                <a:ea typeface="Cambria"/>
                <a:cs typeface="Cambria"/>
                <a:sym typeface="Cambria"/>
              </a:rPr>
              <a:t>11.7%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3840480" y="245059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default rate on VA/DC/MD loans made by out-of-state lenders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548640" y="32004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87%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548640" y="391363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of SBA loans in our region come from out-of-state lenders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 txBox="1"/>
          <p:nvPr/>
        </p:nvSpPr>
        <p:spPr>
          <a:xfrm>
            <a:off x="548640" y="4572000"/>
            <a:ext cx="6309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Our region's higher default rate is largely a lender-mix effect: with the national mix of in-state lenders, it would be about 8.9%.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'Non-bank' in SBA data means mostly mission lenders; online lenders usually appear through partner banks.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0" y="1645920"/>
            <a:ext cx="466344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 txBox="1"/>
          <p:nvPr/>
        </p:nvSpPr>
        <p:spPr>
          <a:xfrm>
            <a:off x="7269480" y="502920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Nationwide default rate by lender type. For the same kind of loan, local banks beat the expected rate by about 40%; national banks were 20% worse.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'Out-of-state' is based on the lender's headquarters, so big banks with local branches count as out-of-state.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Bad loans surface in years 3-7 and usually lose most of the balance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Question 6: When a loan goes bad, how bad and how fast?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645920"/>
            <a:ext cx="640080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 txBox="1"/>
          <p:nvPr/>
        </p:nvSpPr>
        <p:spPr>
          <a:xfrm>
            <a:off x="548640" y="589788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Share of all charge-offs, by year of the loan's life (orange = years 3-7, 74% of charge-offs)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7223760" y="1737360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55 months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 txBox="1"/>
          <p:nvPr/>
        </p:nvSpPr>
        <p:spPr>
          <a:xfrm>
            <a:off x="7223760" y="2450592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typical time from approval to charge-off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 txBox="1"/>
          <p:nvPr/>
        </p:nvSpPr>
        <p:spPr>
          <a:xfrm>
            <a:off x="7223760" y="3017520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C2410C"/>
                </a:solidFill>
                <a:latin typeface="Cambria"/>
                <a:ea typeface="Cambria"/>
                <a:cs typeface="Cambria"/>
                <a:sym typeface="Cambria"/>
              </a:rPr>
              <a:t>81% lost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7223760" y="3730752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of the loan, typically. After the SBA guarantee the bank keeps about 22% of the loan (45% on Express)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 txBox="1"/>
          <p:nvPr/>
        </p:nvSpPr>
        <p:spPr>
          <a:xfrm>
            <a:off x="7223760" y="466344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Collateral cuts the loss: 76% lost with collateral vs 90% without.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Credit lines lose the most when they fail (95%).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Charge-off date is when the loan was written off, usually months after payments stopped. Losses are before later recoveries.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A simple risk tier table can go straight into our approval guidelines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Segments = industry x business age x loan size, 300+ finished loans each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548640" y="17373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C2410C"/>
                </a:solidFill>
                <a:latin typeface="Cambria"/>
                <a:ea typeface="Cambria"/>
                <a:cs typeface="Cambria"/>
                <a:sym typeface="Cambria"/>
              </a:rPr>
              <a:t>16 High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 txBox="1"/>
          <p:nvPr/>
        </p:nvSpPr>
        <p:spPr>
          <a:xfrm>
            <a:off x="548640" y="2450592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segments: 13.1%+ default. 7% of finished loans; 14.8% default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548640" y="31089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Medium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548640" y="3822192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in between: 75% of finished loans; 9.1% default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 txBox="1"/>
          <p:nvPr/>
        </p:nvSpPr>
        <p:spPr>
          <a:xfrm>
            <a:off x="548640" y="44805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2A78D6"/>
                </a:solidFill>
                <a:latin typeface="Cambria"/>
                <a:ea typeface="Cambria"/>
                <a:cs typeface="Cambria"/>
                <a:sym typeface="Cambria"/>
              </a:rPr>
              <a:t>32 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 txBox="1"/>
          <p:nvPr/>
        </p:nvSpPr>
        <p:spPr>
          <a:xfrm>
            <a:off x="548640" y="5193792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segments: 5.2% or less. 12% of finished loans; 3.7% default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11"/>
          <p:cNvGraphicFramePr/>
          <p:nvPr/>
        </p:nvGraphicFramePr>
        <p:xfrm>
          <a:off x="448056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{4C5D75D9-CC19-427B-A357-7D0211FB77AA}</a:tableStyleId>
              </a:tblPr>
              <a:tblGrid>
                <a:gridCol w="2011675"/>
                <a:gridCol w="1463050"/>
                <a:gridCol w="1463050"/>
                <a:gridCol w="1097275"/>
                <a:gridCol w="11887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Loan size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rate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Finished loans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B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&amp; Support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5 years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$150K-$350K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Services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5 years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$150K-$350K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2,057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Education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5 years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$150K-$350K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17.1%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5 years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$150K-$350K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Arts &amp; Entertainment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5 years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$150K-$350K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14.6%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1,113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Transportation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5 years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$150K-$350K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14.1%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Wholesale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5 years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$150K-$350K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Restaurants &amp; Hotels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5 years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$150K-$350K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4,029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8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11"/>
          <p:cNvSpPr txBox="1"/>
          <p:nvPr/>
        </p:nvSpPr>
        <p:spPr>
          <a:xfrm>
            <a:off x="4480560" y="5029200"/>
            <a:ext cx="7223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High-risk examples: all eight are $150K-$350K loans to businesses under 5 years old. The full table (all tiers) is on the dashboard's Risk Tier tab.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6"/>
                </a:solidFill>
                <a:latin typeface="Calibri"/>
                <a:ea typeface="Calibri"/>
                <a:cs typeface="Calibri"/>
                <a:sym typeface="Calibri"/>
              </a:rPr>
              <a:t>High = 1.5x the 8.7% average or more; Low = 0.6x or less. 'Under 5 years' includes startups.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Five changes that let us grow 40% without growing losses at the same pace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C2410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1234440" y="149047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Build the tier table into approvals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5303520" y="150876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Extra review, pricing or collateral for the 16 High segments (14.8% default vs 8.7% average).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1F3B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1234440" y="245059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Keep Express, fix its small 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5303520" y="24688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Tighter checks or pricing under $150K, where the bank loses $2.72-$3.91 per $100. A ban under $50K would slow half of Express borrowers for 23% of Express losses.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F3B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1234440" y="341071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Second look at 'limit-sized' loans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5303520" y="342900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PLP loans of exactly $150K defaulted at 27.9%; exactly $350K at 16.8%.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1F3B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1234440" y="437083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Grow at home first, then Pennsylvania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>
            <a:off x="5303520" y="43891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In-state lenders' loans default at 3.8% vs 11.7% for out-of-state lenders, who hold 87% of our market. Pennsylvania: 7.5% default rate.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1F3B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"/>
          <p:cNvSpPr txBox="1"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1234440" y="533095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Monitor by loan 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5303520" y="534924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Closer reviews in years 2-7 (most charge-offs land in years 3-7), earlier for Express, loans without collateral and credit lines.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What the data can't tell us yet, and what we need from the committee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Limitations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14% of loans are still active; SBA hides their status.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No borrower credit scores or financials in the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Losses are before recoveries, so real losses may be a bit lower.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Loans lived through COVID: use results to rank risk, not to forecast.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Question 3 (does requiring collateral or other loan features lower defaults?) is only partly answered: we know collateral cuts the loss, not yet whether it prevents default.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6400800" y="1371600"/>
            <a:ext cx="5257800" cy="4206240"/>
          </a:xfrm>
          <a:prstGeom prst="rect">
            <a:avLst/>
          </a:prstGeom>
          <a:solidFill>
            <a:srgbClr val="F3F2EF"/>
          </a:solidFill>
          <a:ln cap="flat" cmpd="sng" w="12700">
            <a:solidFill>
              <a:srgbClr val="F3F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Next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6675120" y="2011680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Run the same analysis on Blue Ridge's own SBA book.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Test collateral, term and rate type against default rates within the same program and loan size.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Pilot the tier guidelines for 6 months and track results.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6675120" y="35661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2410C"/>
                </a:solidFill>
                <a:latin typeface="Cambria"/>
                <a:ea typeface="Cambria"/>
                <a:cs typeface="Cambria"/>
                <a:sym typeface="Cambria"/>
              </a:rPr>
              <a:t>Our ask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6675120" y="3977640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Approve the risk tier table and the Express review for a 6-month pilot, and share our internal loan data for the next round.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5C"/>
                </a:solidFill>
                <a:latin typeface="Cambria"/>
                <a:ea typeface="Cambria"/>
                <a:cs typeface="Cambria"/>
                <a:sym typeface="Cambria"/>
              </a:rPr>
              <a:t>Appendix: definitions and method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Data: SBA 7(a) FOIA loan file, loans approved FY2015-2019 (Oct 2014 to Sep 2019), status as of 2026. 301,889 loans after removing exact duplicates.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Default rate: charged off / (paid in full + charged off).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Bank loss per $100 lent: amount written off x (1 - SBA guarantee %) / amount lent, on finished loans.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Expected default rate: the national rate for loans with the same industry, loan size and program (plus state, for lender comparisons). Actual / expected shows performance beyond loan mix.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Business age labels changed in FY2018; age comparisons were checked on FY2015-2017 loans and the pattern holds.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Minimum sample: 100 finished loans for a rate, 300 for a risk tier segment.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All figures were recomputed independently in a separate QA check. Interactive dashboard: SBA_Risk_Dashboard_final.twbx (6 tabs).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